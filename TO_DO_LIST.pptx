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9D6EDB6B-BF21-4B87-8348-A630D46D9FC5}">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1CD137-E7B2-4DD5-9BE1-538B42666668}" v="190" dt="2026-04-20T04:42:02.8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dirty="0"/>
              <a:t>Click to edit Master title style</a:t>
            </a:r>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5347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14991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dirty="0"/>
              <a:t>Click to edit Master title style</a:t>
            </a:r>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21489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10740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74055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80034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16061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dirty="0"/>
              <a:t>Click to edit Master title style</a:t>
            </a:r>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87569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dirty="0"/>
              <a:t>Click to edit Master title style</a:t>
            </a:r>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4/19/2026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5864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59537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57563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10004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845591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dirty="0"/>
              <a:t>Click to edit Master title style</a:t>
            </a:r>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294478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610384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672569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28142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4/19/2026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37668200"/>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b="1">
                <a:gradFill flip="none">
                  <a:gsLst>
                    <a:gs pos="0">
                      <a:srgbClr val="FFFFFF"/>
                    </a:gs>
                    <a:gs pos="100000">
                      <a:srgbClr val="FFFFFF"/>
                    </a:gs>
                  </a:gsLst>
                  <a:lin ang="5580000" scaled="0"/>
                  <a:tileRect/>
                </a:gradFill>
                <a:effectLst>
                  <a:glow rad="38100">
                    <a:prstClr val="black">
                      <a:lumMod val="65000"/>
                      <a:lumOff val="35000"/>
                      <a:alpha val="50000"/>
                    </a:prstClr>
                  </a:glow>
                  <a:outerShdw blurRad="28575" dist="31750" dir="13200000" algn="tl" rotWithShape="0">
                    <a:srgbClr val="000000">
                      <a:alpha val="25000"/>
                    </a:srgbClr>
                  </a:outerShdw>
                </a:effectLst>
                <a:latin typeface="Times New Roman"/>
                <a:cs typeface="Times New Roman"/>
              </a:rPr>
              <a:t>TO – DO LIST MANAGER</a:t>
            </a:r>
            <a:endParaRPr lang="en-US" sz="4400">
              <a:gradFill flip="none">
                <a:gsLst>
                  <a:gs pos="0">
                    <a:srgbClr val="FFFFFF"/>
                  </a:gs>
                  <a:gs pos="100000">
                    <a:srgbClr val="FFFFFF"/>
                  </a:gs>
                </a:gsLst>
                <a:lin ang="5580000" scaled="0"/>
                <a:tileRect/>
              </a:gradFill>
              <a:effectLst>
                <a:glow rad="38100">
                  <a:prstClr val="black">
                    <a:lumMod val="65000"/>
                    <a:lumOff val="35000"/>
                    <a:alpha val="50000"/>
                  </a:prstClr>
                </a:glow>
                <a:outerShdw blurRad="28575" dist="31750" dir="13200000" algn="tl" rotWithShape="0">
                  <a:srgbClr val="000000">
                    <a:alpha val="25000"/>
                  </a:srgbClr>
                </a:outerShdw>
              </a:effectLst>
              <a:latin typeface="Times New Roman"/>
              <a:cs typeface="Times New Roman"/>
            </a:endParaRPr>
          </a:p>
          <a:p>
            <a:endParaRPr lang="en-US" dirty="0">
              <a:gradFill flip="none">
                <a:gsLst>
                  <a:gs pos="0">
                    <a:srgbClr val="FFFFFF"/>
                  </a:gs>
                  <a:gs pos="100000">
                    <a:srgbClr val="FFFFFF"/>
                  </a:gs>
                </a:gsLst>
                <a:lin ang="5580000" scaled="0"/>
                <a:tileRect/>
              </a:gradFill>
              <a:effectLst>
                <a:glow rad="38100">
                  <a:prstClr val="black">
                    <a:lumMod val="65000"/>
                    <a:lumOff val="35000"/>
                    <a:alpha val="50000"/>
                  </a:prstClr>
                </a:glow>
                <a:outerShdw blurRad="28575" dist="31750" dir="13200000" algn="tl" rotWithShape="0">
                  <a:srgbClr val="000000">
                    <a:alpha val="25000"/>
                  </a:srgbClr>
                </a:outerShdw>
              </a:effectLst>
            </a:endParaRPr>
          </a:p>
        </p:txBody>
      </p:sp>
      <p:sp>
        <p:nvSpPr>
          <p:cNvPr id="3" name="Subtitle 2"/>
          <p:cNvSpPr>
            <a:spLocks noGrp="1"/>
          </p:cNvSpPr>
          <p:nvPr>
            <p:ph type="subTitle" idx="1"/>
          </p:nvPr>
        </p:nvSpPr>
        <p:spPr/>
        <p:txBody>
          <a:bodyPr/>
          <a:lstStyle/>
          <a:p>
            <a:r>
              <a:rPr lang="en-US" sz="2800">
                <a:gradFill flip="none">
                  <a:gsLst>
                    <a:gs pos="0">
                      <a:srgbClr val="FFFFFF"/>
                    </a:gs>
                    <a:gs pos="100000">
                      <a:srgbClr val="FFFFFF"/>
                    </a:gs>
                  </a:gsLst>
                  <a:lin ang="5400000" scaled="0"/>
                  <a:tileRect/>
                </a:gradFill>
                <a:effectLst>
                  <a:glow rad="38100">
                    <a:prstClr val="black">
                      <a:lumMod val="50000"/>
                      <a:lumOff val="50000"/>
                      <a:alpha val="20000"/>
                    </a:prstClr>
                  </a:glow>
                  <a:outerShdw blurRad="44450" dist="12700" dir="13860000" algn="tl" rotWithShape="0">
                    <a:srgbClr val="000000">
                      <a:alpha val="20000"/>
                    </a:srgbClr>
                  </a:outerShdw>
                </a:effectLst>
              </a:rPr>
              <a:t>BY</a:t>
            </a:r>
          </a:p>
          <a:p>
            <a:r>
              <a:rPr lang="en-US" sz="2800">
                <a:gradFill flip="none">
                  <a:gsLst>
                    <a:gs pos="0">
                      <a:srgbClr val="FFFFFF"/>
                    </a:gs>
                    <a:gs pos="100000">
                      <a:srgbClr val="FFFFFF"/>
                    </a:gs>
                  </a:gsLst>
                  <a:lin ang="5400000" scaled="0"/>
                  <a:tileRect/>
                </a:gradFill>
                <a:effectLst>
                  <a:glow rad="38100">
                    <a:prstClr val="black">
                      <a:lumMod val="50000"/>
                      <a:lumOff val="50000"/>
                      <a:alpha val="20000"/>
                    </a:prstClr>
                  </a:glow>
                  <a:outerShdw blurRad="44450" dist="12700" dir="13860000" algn="tl" rotWithShape="0">
                    <a:srgbClr val="000000">
                      <a:alpha val="20000"/>
                    </a:srgbClr>
                  </a:outerShdw>
                </a:effectLst>
              </a:rPr>
              <a:t>VIGNESH 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D08DF-D3AA-0576-8D76-3615B5939809}"/>
              </a:ext>
            </a:extLst>
          </p:cNvPr>
          <p:cNvSpPr>
            <a:spLocks noGrp="1"/>
          </p:cNvSpPr>
          <p:nvPr>
            <p:ph type="title"/>
          </p:nvPr>
        </p:nvSpPr>
        <p:spPr/>
        <p:txBody>
          <a:bodyPr/>
          <a:lstStyle/>
          <a:p>
            <a:r>
              <a:rPr lang="en-US" b="1">
                <a:gradFill flip="none">
                  <a:gsLst>
                    <a:gs pos="0">
                      <a:srgbClr val="FFFFFF"/>
                    </a:gs>
                    <a:gs pos="100000">
                      <a:srgbClr val="FFFFFF"/>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latin typeface="Times New Roman"/>
                <a:cs typeface="Times New Roman"/>
              </a:rPr>
              <a:t>Problem Statement</a:t>
            </a:r>
            <a:endParaRPr lang="en-US">
              <a:gradFill flip="none">
                <a:gsLst>
                  <a:gs pos="0">
                    <a:srgbClr val="FFFFFF"/>
                  </a:gs>
                  <a:gs pos="100000">
                    <a:srgbClr val="FFFFFF"/>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latin typeface="Times New Roman"/>
              <a:cs typeface="Times New Roman"/>
            </a:endParaRPr>
          </a:p>
          <a:p>
            <a:endParaRPr lang="en-US" dirty="0">
              <a:gradFill flip="none">
                <a:gsLst>
                  <a:gs pos="0">
                    <a:srgbClr val="FFFFFF"/>
                  </a:gs>
                  <a:gs pos="100000">
                    <a:srgbClr val="FFFFFF"/>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endParaRPr>
          </a:p>
        </p:txBody>
      </p:sp>
      <p:sp>
        <p:nvSpPr>
          <p:cNvPr id="3" name="Content Placeholder 2">
            <a:extLst>
              <a:ext uri="{FF2B5EF4-FFF2-40B4-BE49-F238E27FC236}">
                <a16:creationId xmlns:a16="http://schemas.microsoft.com/office/drawing/2014/main" id="{20FCE842-664D-675E-11CB-4BB635DB2C90}"/>
              </a:ext>
            </a:extLst>
          </p:cNvPr>
          <p:cNvSpPr>
            <a:spLocks noGrp="1"/>
          </p:cNvSpPr>
          <p:nvPr>
            <p:ph idx="1"/>
          </p:nvPr>
        </p:nvSpPr>
        <p:spPr/>
        <p:txBody>
          <a:bodyPr/>
          <a:lstStyle/>
          <a:p>
            <a:pPr marL="0" indent="0">
              <a:buNone/>
            </a:pP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latin typeface="Times New Roman"/>
                <a:cs typeface="Times New Roman"/>
              </a:rPr>
              <a:t>Design and develop a Command-Line Interface (CLI) based To-Do List Manager that enables users to efficiently manage daily tasks by adding, removing, updating and viewing task status. The system should maintain task data during runtime, ensure proper input validation and handle edge cases to provide </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latin typeface="Times New Roman"/>
                <a:cs typeface="Times New Roman"/>
              </a:rPr>
              <a:t>a reliable</a:t>
            </a: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latin typeface="Times New Roman"/>
                <a:cs typeface="Times New Roman"/>
              </a:rPr>
              <a:t> and user-friendly experience.</a:t>
            </a:r>
            <a:endParaRPr lang="en-US" dirty="0">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p:txBody>
      </p:sp>
    </p:spTree>
    <p:extLst>
      <p:ext uri="{BB962C8B-B14F-4D97-AF65-F5344CB8AC3E}">
        <p14:creationId xmlns:p14="http://schemas.microsoft.com/office/powerpoint/2010/main" val="1733493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B8C48-BA25-8BFB-25D0-27CB7DACFF24}"/>
              </a:ext>
            </a:extLst>
          </p:cNvPr>
          <p:cNvSpPr>
            <a:spLocks noGrp="1"/>
          </p:cNvSpPr>
          <p:nvPr>
            <p:ph type="title"/>
          </p:nvPr>
        </p:nvSpPr>
        <p:spPr/>
        <p:txBody>
          <a:bodyPr/>
          <a:lstStyle/>
          <a:p>
            <a:r>
              <a:rPr lang="en-US" b="1">
                <a:gradFill flip="none">
                  <a:gsLst>
                    <a:gs pos="0">
                      <a:srgbClr val="FFFFFF"/>
                    </a:gs>
                    <a:gs pos="100000">
                      <a:srgbClr val="FFFFFF"/>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latin typeface="Times New Roman"/>
                <a:cs typeface="Times New Roman"/>
              </a:rPr>
              <a:t>Logic</a:t>
            </a:r>
            <a:endParaRPr lang="en-US"/>
          </a:p>
        </p:txBody>
      </p:sp>
      <p:sp>
        <p:nvSpPr>
          <p:cNvPr id="3" name="Content Placeholder 2">
            <a:extLst>
              <a:ext uri="{FF2B5EF4-FFF2-40B4-BE49-F238E27FC236}">
                <a16:creationId xmlns:a16="http://schemas.microsoft.com/office/drawing/2014/main" id="{1427E867-3068-3FA7-E602-18F640931146}"/>
              </a:ext>
            </a:extLst>
          </p:cNvPr>
          <p:cNvSpPr>
            <a:spLocks noGrp="1"/>
          </p:cNvSpPr>
          <p:nvPr>
            <p:ph idx="1"/>
          </p:nvPr>
        </p:nvSpPr>
        <p:spPr/>
        <p:txBody>
          <a:bodyPr>
            <a:normAutofit fontScale="85000" lnSpcReduction="20000"/>
          </a:bodyPr>
          <a:lstStyle/>
          <a:p>
            <a:r>
              <a:rPr lang="en-US" b="1"/>
              <a:t>Initialization</a:t>
            </a:r>
            <a:endParaRPr lang="en-US">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Create a </a:t>
            </a:r>
            <a:r>
              <a:rPr lang="en-US" dirty="0" err="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latin typeface="Consolas"/>
              </a:rPr>
              <a:t>ToDoList</a:t>
            </a: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object containing a list of tasks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Each task is represented as an object of the </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latin typeface="Consolas"/>
              </a:rPr>
              <a:t>Task</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class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Each task stores name, status, and timestamp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marL="0" indent="0">
              <a:buClr>
                <a:srgbClr val="FFFFFF"/>
              </a:buClr>
              <a:buNone/>
            </a:pPr>
            <a:br>
              <a:rPr lang="en-US" dirty="0"/>
            </a:br>
            <a:endParaRPr lang="en-US" dirty="0">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a:t>Continuous Execution</a:t>
            </a:r>
            <a:endParaRPr lang="en-US"/>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Use an infinite loop (</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latin typeface="Consolas"/>
              </a:rPr>
              <a:t>while True</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Display menu repeatedly until user exits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Keeps program interactive</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endPar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p:txBody>
      </p:sp>
    </p:spTree>
    <p:extLst>
      <p:ext uri="{BB962C8B-B14F-4D97-AF65-F5344CB8AC3E}">
        <p14:creationId xmlns:p14="http://schemas.microsoft.com/office/powerpoint/2010/main" val="2263354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9828CF-4BA5-D033-981A-D2AFAFD0964B}"/>
              </a:ext>
            </a:extLst>
          </p:cNvPr>
          <p:cNvSpPr>
            <a:spLocks noGrp="1"/>
          </p:cNvSpPr>
          <p:nvPr>
            <p:ph idx="1"/>
          </p:nvPr>
        </p:nvSpPr>
        <p:spPr>
          <a:xfrm>
            <a:off x="1141413" y="797942"/>
            <a:ext cx="9905998" cy="5266427"/>
          </a:xfrm>
        </p:spPr>
        <p:txBody>
          <a:bodyPr>
            <a:normAutofit fontScale="92500" lnSpcReduction="20000"/>
          </a:bodyPr>
          <a:lstStyle/>
          <a:p>
            <a:r>
              <a:rPr lang="en-US" b="1"/>
              <a:t>User Input Handling</a:t>
            </a:r>
            <a:endParaRPr lang="en-US">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Accept menu choice from user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Validate input using </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latin typeface="Consolas"/>
              </a:rPr>
              <a:t>try-except</a:t>
            </a: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Ensure input is numeric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Prevent program crashes due to invalid input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marL="457200" lvl="1" indent="0">
              <a:buClr>
                <a:srgbClr val="FFFFFF"/>
              </a:buClr>
              <a:buNone/>
            </a:pPr>
            <a:br>
              <a:rPr lang="en-US" dirty="0"/>
            </a:b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a:t>Add Task Operation</a:t>
            </a:r>
            <a:endParaRPr lang="en-US"/>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Accept task name from user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Validate empty input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Create a </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latin typeface="Consolas"/>
              </a:rPr>
              <a:t>Task</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object with: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2">
              <a:buClr>
                <a:srgbClr val="FFFFFF"/>
              </a:buClr>
              <a:buFont typeface="Wingdings"/>
              <a:buChar cha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Task name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2">
              <a:buClr>
                <a:srgbClr val="FFFFFF"/>
              </a:buClr>
              <a:buFont typeface="Wingdings"/>
              <a:buChar cha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Default status → “Not yet completed”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2">
              <a:buClr>
                <a:srgbClr val="FFFFFF"/>
              </a:buClr>
              <a:buFont typeface="Wingdings"/>
              <a:buChar cha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Current date and time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Add task to the list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endPar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p:txBody>
      </p:sp>
    </p:spTree>
    <p:extLst>
      <p:ext uri="{BB962C8B-B14F-4D97-AF65-F5344CB8AC3E}">
        <p14:creationId xmlns:p14="http://schemas.microsoft.com/office/powerpoint/2010/main" val="2394434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721C90-BE6E-4DCB-F710-17BDE286D3B3}"/>
              </a:ext>
            </a:extLst>
          </p:cNvPr>
          <p:cNvSpPr>
            <a:spLocks noGrp="1"/>
          </p:cNvSpPr>
          <p:nvPr>
            <p:ph idx="1"/>
          </p:nvPr>
        </p:nvSpPr>
        <p:spPr>
          <a:xfrm>
            <a:off x="1141413" y="769188"/>
            <a:ext cx="9905998" cy="5309559"/>
          </a:xfrm>
        </p:spPr>
        <p:txBody>
          <a:bodyPr>
            <a:normAutofit fontScale="92500" lnSpcReduction="20000"/>
          </a:bodyPr>
          <a:lstStyle/>
          <a:p>
            <a:r>
              <a:rPr lang="en-US" b="1"/>
              <a:t>Remove Task Operation</a:t>
            </a:r>
            <a:endParaRPr lang="en-US">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Check if task list is not empty </a:t>
            </a: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Display tasks with index </a:t>
            </a: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Accept index from user </a:t>
            </a: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Validate index range </a:t>
            </a: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Remove selected task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marL="0" indent="0">
              <a:buClr>
                <a:srgbClr val="FFFFFF"/>
              </a:buClr>
              <a:buNone/>
            </a:pPr>
            <a:br>
              <a:rPr lang="en-US" dirty="0"/>
            </a:br>
            <a:endParaRPr lang="en-US" dirty="0">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a:t>Update Task Status Operation</a:t>
            </a:r>
            <a:endParaRPr lang="en-US"/>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Ensure tasks exist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Display tasks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Select task using index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Toggle status: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2">
              <a:buClr>
                <a:srgbClr val="FFFFFF"/>
              </a:buClr>
              <a:buFont typeface="Wingdings"/>
              <a:buChar cha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Not yet completed → Completed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2">
              <a:buClr>
                <a:srgbClr val="FFFFFF"/>
              </a:buClr>
              <a:buFont typeface="Wingdings"/>
              <a:buChar cha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Completed → Not yet completed</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endPar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p:txBody>
      </p:sp>
    </p:spTree>
    <p:extLst>
      <p:ext uri="{BB962C8B-B14F-4D97-AF65-F5344CB8AC3E}">
        <p14:creationId xmlns:p14="http://schemas.microsoft.com/office/powerpoint/2010/main" val="1143936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DECD4E-050C-F303-C70F-F264D55A8BCB}"/>
              </a:ext>
            </a:extLst>
          </p:cNvPr>
          <p:cNvSpPr>
            <a:spLocks noGrp="1"/>
          </p:cNvSpPr>
          <p:nvPr>
            <p:ph idx="1"/>
          </p:nvPr>
        </p:nvSpPr>
        <p:spPr>
          <a:xfrm>
            <a:off x="1141413" y="639792"/>
            <a:ext cx="9905998" cy="5151408"/>
          </a:xfrm>
        </p:spPr>
        <p:txBody>
          <a:bodyPr>
            <a:normAutofit/>
          </a:bodyPr>
          <a:lstStyle/>
          <a:p>
            <a:r>
              <a:rPr lang="en-US" b="1"/>
              <a:t>Display User Operation</a:t>
            </a:r>
            <a:endParaRPr lang="en-US">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Check if tasks exist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Display tasks in tabular format: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2">
              <a:buClr>
                <a:srgbClr val="FFFFFF"/>
              </a:buClr>
              <a:buFont typeface="Wingdings"/>
              <a:buChar cha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Task ID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2">
              <a:buClr>
                <a:srgbClr val="FFFFFF"/>
              </a:buClr>
              <a:buFont typeface="Wingdings"/>
              <a:buChar cha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Task Name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2">
              <a:buClr>
                <a:srgbClr val="FFFFFF"/>
              </a:buClr>
              <a:buFont typeface="Wingdings"/>
              <a:buChar cha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Status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2">
              <a:buClr>
                <a:srgbClr val="FFFFFF"/>
              </a:buClr>
              <a:buFont typeface="Wingdings"/>
              <a:buChar cha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Timestamp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marL="457200" lvl="1" indent="0">
              <a:buClr>
                <a:srgbClr val="FFFFFF"/>
              </a:buClr>
              <a:buNone/>
            </a:pPr>
            <a:br>
              <a:rPr lang="en-US" dirty="0"/>
            </a:br>
            <a:endParaRPr lang="en-US" dirty="0">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a:gradFill flip="none">
                  <a:gsLst>
                    <a:gs pos="0">
                      <a:srgbClr val="FFFFFF"/>
                    </a:gs>
                    <a:gs pos="100000">
                      <a:srgbClr val="FFFFFF"/>
                    </a:gs>
                  </a:gsLst>
                  <a:lin ang="5580000" scaled="0"/>
                  <a:tileRect/>
                </a:gradFill>
              </a:rPr>
              <a:t>Exit Operation</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Exit program using </a:t>
            </a:r>
            <a:r>
              <a:rPr lang="en-US" dirty="0" err="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latin typeface="Consolas"/>
              </a:rPr>
              <a:t>sys.exit</a:t>
            </a: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latin typeface="Consolas"/>
              </a:rPr>
              <a:t>()</a:t>
            </a: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Display exit message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endPar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p:txBody>
      </p:sp>
    </p:spTree>
    <p:extLst>
      <p:ext uri="{BB962C8B-B14F-4D97-AF65-F5344CB8AC3E}">
        <p14:creationId xmlns:p14="http://schemas.microsoft.com/office/powerpoint/2010/main" val="1155570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E5917-7139-1939-16DB-3A15D5168233}"/>
              </a:ext>
            </a:extLst>
          </p:cNvPr>
          <p:cNvSpPr>
            <a:spLocks noGrp="1"/>
          </p:cNvSpPr>
          <p:nvPr>
            <p:ph type="title"/>
          </p:nvPr>
        </p:nvSpPr>
        <p:spPr/>
        <p:txBody>
          <a:bodyPr/>
          <a:lstStyle/>
          <a:p>
            <a:r>
              <a:rPr lang="en-US">
                <a:gradFill flip="none">
                  <a:gsLst>
                    <a:gs pos="0">
                      <a:srgbClr val="FFFFFF"/>
                    </a:gs>
                    <a:gs pos="100000">
                      <a:srgbClr val="FFFFFF"/>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ea typeface="+mj-lt"/>
                <a:cs typeface="+mj-lt"/>
              </a:rPr>
              <a:t>Edge Cases Handled</a:t>
            </a:r>
            <a:endParaRPr lang="en-US"/>
          </a:p>
        </p:txBody>
      </p:sp>
      <p:sp>
        <p:nvSpPr>
          <p:cNvPr id="3" name="Content Placeholder 2">
            <a:extLst>
              <a:ext uri="{FF2B5EF4-FFF2-40B4-BE49-F238E27FC236}">
                <a16:creationId xmlns:a16="http://schemas.microsoft.com/office/drawing/2014/main" id="{D8082599-7E82-B631-6AE6-C15057DB58E3}"/>
              </a:ext>
            </a:extLst>
          </p:cNvPr>
          <p:cNvSpPr>
            <a:spLocks noGrp="1"/>
          </p:cNvSpPr>
          <p:nvPr>
            <p:ph idx="1"/>
          </p:nvPr>
        </p:nvSpPr>
        <p:spPr/>
        <p:txBody>
          <a:bodyPr/>
          <a:lstStyle/>
          <a:p>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Invalid input (non-numeric values) </a:t>
            </a:r>
            <a:endParaRPr lang="en-US">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Removing task when list is empty </a:t>
            </a:r>
            <a:endParaRPr lang="en-US"/>
          </a:p>
          <a:p>
            <a:pPr>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Updating task when no tasks exist </a:t>
            </a:r>
            <a:endParaRPr lang="en-US"/>
          </a:p>
          <a:p>
            <a:pPr>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Index out of range </a:t>
            </a:r>
            <a:endParaRPr lang="en-US"/>
          </a:p>
          <a:p>
            <a:pPr>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Empty task input </a:t>
            </a:r>
            <a:endParaRPr lang="en-US"/>
          </a:p>
          <a:p>
            <a:pPr>
              <a:buClr>
                <a:srgbClr val="FFFFFF"/>
              </a:buClr>
            </a:pP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Wrong menu selection</a:t>
            </a:r>
            <a:endParaRPr lang="en-US" dirty="0"/>
          </a:p>
          <a:p>
            <a:pPr marL="0" indent="0">
              <a:buClr>
                <a:srgbClr val="FFFFFF"/>
              </a:buClr>
              <a:buNone/>
            </a:pPr>
            <a:endPar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p:txBody>
      </p:sp>
    </p:spTree>
    <p:extLst>
      <p:ext uri="{BB962C8B-B14F-4D97-AF65-F5344CB8AC3E}">
        <p14:creationId xmlns:p14="http://schemas.microsoft.com/office/powerpoint/2010/main" val="1254859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7E3B2-06EE-B982-F63D-8CAA5F6C3545}"/>
              </a:ext>
            </a:extLst>
          </p:cNvPr>
          <p:cNvSpPr>
            <a:spLocks noGrp="1"/>
          </p:cNvSpPr>
          <p:nvPr>
            <p:ph type="title"/>
          </p:nvPr>
        </p:nvSpPr>
        <p:spPr/>
        <p:txBody>
          <a:bodyPr/>
          <a:lstStyle/>
          <a:p>
            <a:r>
              <a:rPr lang="en-US">
                <a:gradFill flip="none">
                  <a:gsLst>
                    <a:gs pos="0">
                      <a:srgbClr val="FFFFFF"/>
                    </a:gs>
                    <a:gs pos="100000">
                      <a:srgbClr val="FFFFFF"/>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ea typeface="+mj-lt"/>
                <a:cs typeface="+mj-lt"/>
              </a:rPr>
              <a:t>Python Concepts Used</a:t>
            </a:r>
            <a:endParaRPr lang="en-US"/>
          </a:p>
        </p:txBody>
      </p:sp>
      <p:sp>
        <p:nvSpPr>
          <p:cNvPr id="3" name="Content Placeholder 2">
            <a:extLst>
              <a:ext uri="{FF2B5EF4-FFF2-40B4-BE49-F238E27FC236}">
                <a16:creationId xmlns:a16="http://schemas.microsoft.com/office/drawing/2014/main" id="{5A5C7654-A20F-E26C-E204-01B8005CD0ED}"/>
              </a:ext>
            </a:extLst>
          </p:cNvPr>
          <p:cNvSpPr>
            <a:spLocks noGrp="1"/>
          </p:cNvSpPr>
          <p:nvPr>
            <p:ph idx="1"/>
          </p:nvPr>
        </p:nvSpPr>
        <p:spPr/>
        <p:txBody>
          <a:bodyPr>
            <a:normAutofit fontScale="92500" lnSpcReduction="20000"/>
          </a:bodyPr>
          <a:lstStyle/>
          <a:p>
            <a: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Classes &amp; Objects (OOP)</a:t>
            </a: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 Task and </a:t>
            </a:r>
            <a:r>
              <a:rPr lang="en-US" dirty="0" err="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ToDoList</a:t>
            </a: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endParaRPr lang="en-US" dirty="0">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Lists</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 Store task objects </a:t>
            </a:r>
            <a:endParaRPr lang="en-US"/>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Functions</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 Modular design </a:t>
            </a:r>
            <a:endParaRPr lang="en-US"/>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Loops</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 Continuous execution </a:t>
            </a:r>
            <a:endParaRPr lang="en-US"/>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Exception Handling</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 Error handling </a:t>
            </a:r>
            <a:endParaRPr lang="en-US"/>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Datetime Module</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 Timestamp </a:t>
            </a:r>
            <a:endParaRPr lang="en-US"/>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Match-Case</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 Menu handling </a:t>
            </a:r>
            <a:endParaRPr lang="en-US"/>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State Handling</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 Data persists during runtime </a:t>
            </a:r>
            <a:endParaRPr lang="en-US"/>
          </a:p>
          <a:p>
            <a:pPr>
              <a:buClr>
                <a:srgbClr val="FFFFFF"/>
              </a:buClr>
            </a:pPr>
            <a:endPar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p:txBody>
      </p:sp>
    </p:spTree>
    <p:extLst>
      <p:ext uri="{BB962C8B-B14F-4D97-AF65-F5344CB8AC3E}">
        <p14:creationId xmlns:p14="http://schemas.microsoft.com/office/powerpoint/2010/main" val="3097604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E3391-C7A5-3C0E-7739-3A3B3469805B}"/>
              </a:ext>
            </a:extLst>
          </p:cNvPr>
          <p:cNvSpPr>
            <a:spLocks noGrp="1"/>
          </p:cNvSpPr>
          <p:nvPr>
            <p:ph type="title"/>
          </p:nvPr>
        </p:nvSpPr>
        <p:spPr/>
        <p:txBody>
          <a:bodyPr/>
          <a:lstStyle/>
          <a:p>
            <a:r>
              <a:rPr lang="en-US"/>
              <a:t>Code Walkthrough</a:t>
            </a:r>
          </a:p>
          <a:p>
            <a:endParaRPr lang="en-US"/>
          </a:p>
          <a:p>
            <a:endParaRPr lang="en-US" dirty="0">
              <a:gradFill flip="none">
                <a:gsLst>
                  <a:gs pos="0">
                    <a:srgbClr val="FFFFFF"/>
                  </a:gs>
                  <a:gs pos="100000">
                    <a:srgbClr val="FFFFFF"/>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endParaRPr>
          </a:p>
        </p:txBody>
      </p:sp>
      <p:sp>
        <p:nvSpPr>
          <p:cNvPr id="3" name="Content Placeholder 2">
            <a:extLst>
              <a:ext uri="{FF2B5EF4-FFF2-40B4-BE49-F238E27FC236}">
                <a16:creationId xmlns:a16="http://schemas.microsoft.com/office/drawing/2014/main" id="{8CD7E14D-C092-19D4-EECD-181A34C0D747}"/>
              </a:ext>
            </a:extLst>
          </p:cNvPr>
          <p:cNvSpPr>
            <a:spLocks noGrp="1"/>
          </p:cNvSpPr>
          <p:nvPr>
            <p:ph idx="1"/>
          </p:nvPr>
        </p:nvSpPr>
        <p:spPr>
          <a:xfrm>
            <a:off x="1141413" y="1761226"/>
            <a:ext cx="9905998" cy="4029974"/>
          </a:xfrm>
        </p:spPr>
        <p:txBody>
          <a:bodyPr>
            <a:normAutofit/>
          </a:bodyPr>
          <a:lstStyle/>
          <a:p>
            <a:r>
              <a:rPr lang="en-US" sz="1700" b="1" dirty="0" err="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add_task</a:t>
            </a:r>
            <a:r>
              <a:rPr lang="en-US" sz="1700"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t>
            </a:r>
            <a:br>
              <a:rPr lang="en-US" sz="1700" b="1" dirty="0">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br>
            <a:r>
              <a:rPr lang="en-US" sz="1700"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r>
              <a:rPr lang="en-US" sz="1700"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a:t>
            </a:r>
            <a:r>
              <a:rPr lang="en-US" sz="1700"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akes input, validates it, creates a task object, and adds it </a:t>
            </a:r>
            <a:endParaRPr lang="en-US" sz="170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dirty="0" err="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remove_task</a:t>
            </a:r>
            <a: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t>
            </a:r>
            <a:b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br>
            <a:r>
              <a:rPr lang="en-US" sz="1700"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r>
              <a:rPr lang="en-US" sz="1700"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D</a:t>
            </a:r>
            <a:r>
              <a:rPr lang="en-US" sz="1700"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isplays tasks, removes selected task, handles invalid input </a:t>
            </a:r>
            <a:endParaRPr lang="en-US" sz="170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dirty="0" err="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update_status</a:t>
            </a:r>
            <a: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t>
            </a:r>
            <a:b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br>
            <a: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a:t>
            </a:r>
            <a:r>
              <a:rPr lang="en-US" sz="1700"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oggles task status using index </a:t>
            </a:r>
            <a:endParaRPr lang="en-US" sz="1700"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dirty="0" err="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display_task</a:t>
            </a:r>
            <a: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t>
            </a:r>
            <a:b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br>
            <a:r>
              <a:rPr lang="en-US" sz="1700"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r>
              <a:rPr lang="en-US" sz="1700"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D</a:t>
            </a:r>
            <a:r>
              <a:rPr lang="en-US" sz="1700"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isplays tasks in structured format </a:t>
            </a:r>
            <a:endParaRPr lang="en-US" sz="170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dirty="0" err="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check_available</a:t>
            </a:r>
            <a: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t>
            </a:r>
            <a:b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br>
            <a:r>
              <a:rPr lang="en-US" sz="1700"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r>
              <a:rPr lang="en-US" sz="1700"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C</a:t>
            </a:r>
            <a:r>
              <a:rPr lang="en-US" sz="1700"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hecks whether task list is empty </a:t>
            </a:r>
            <a:endParaRPr lang="en-US" sz="170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endPar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p:txBody>
      </p:sp>
    </p:spTree>
    <p:extLst>
      <p:ext uri="{BB962C8B-B14F-4D97-AF65-F5344CB8AC3E}">
        <p14:creationId xmlns:p14="http://schemas.microsoft.com/office/powerpoint/2010/main" val="2342076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8B1BD-D3E8-8957-F6DC-DDD125DAED52}"/>
              </a:ext>
            </a:extLst>
          </p:cNvPr>
          <p:cNvSpPr>
            <a:spLocks noGrp="1"/>
          </p:cNvSpPr>
          <p:nvPr>
            <p:ph type="title"/>
          </p:nvPr>
        </p:nvSpPr>
        <p:spPr>
          <a:xfrm>
            <a:off x="1141413" y="5751"/>
            <a:ext cx="9905998" cy="1258019"/>
          </a:xfrm>
        </p:spPr>
        <p:txBody>
          <a:bodyPr/>
          <a:lstStyle/>
          <a:p>
            <a:pPr algn="ctr"/>
            <a:r>
              <a:rPr lang="en-US">
                <a:gradFill flip="none">
                  <a:gsLst>
                    <a:gs pos="0">
                      <a:srgbClr val="FFFFFF"/>
                    </a:gs>
                    <a:gs pos="100000">
                      <a:srgbClr val="FFFFFF"/>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rPr>
              <a:t>Code</a:t>
            </a:r>
            <a:endParaRPr lang="en-US">
              <a:gradFill flip="none" rotWithShape="1">
                <a:gsLst>
                  <a:gs pos="0">
                    <a:prstClr val="white"/>
                  </a:gs>
                  <a:gs pos="100000">
                    <a:prstClr val="white">
                      <a:lumMod val="65000"/>
                    </a:prstClr>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endParaRPr>
          </a:p>
        </p:txBody>
      </p:sp>
      <p:pic>
        <p:nvPicPr>
          <p:cNvPr id="3" name="Picture 2">
            <a:extLst>
              <a:ext uri="{FF2B5EF4-FFF2-40B4-BE49-F238E27FC236}">
                <a16:creationId xmlns:a16="http://schemas.microsoft.com/office/drawing/2014/main" id="{F044C291-16F5-3101-C74B-71CACA14470E}"/>
              </a:ext>
            </a:extLst>
          </p:cNvPr>
          <p:cNvPicPr>
            <a:picLocks noChangeAspect="1"/>
          </p:cNvPicPr>
          <p:nvPr/>
        </p:nvPicPr>
        <p:blipFill>
          <a:blip r:embed="rId2"/>
          <a:stretch>
            <a:fillRect/>
          </a:stretch>
        </p:blipFill>
        <p:spPr>
          <a:xfrm>
            <a:off x="369455" y="1279586"/>
            <a:ext cx="5357091" cy="5204604"/>
          </a:xfrm>
          <a:prstGeom prst="rect">
            <a:avLst/>
          </a:prstGeom>
        </p:spPr>
      </p:pic>
      <p:pic>
        <p:nvPicPr>
          <p:cNvPr id="4" name="Picture 3">
            <a:extLst>
              <a:ext uri="{FF2B5EF4-FFF2-40B4-BE49-F238E27FC236}">
                <a16:creationId xmlns:a16="http://schemas.microsoft.com/office/drawing/2014/main" id="{0622B857-7FE0-0037-CC2D-EAC833F19C9B}"/>
              </a:ext>
            </a:extLst>
          </p:cNvPr>
          <p:cNvPicPr>
            <a:picLocks noChangeAspect="1"/>
          </p:cNvPicPr>
          <p:nvPr/>
        </p:nvPicPr>
        <p:blipFill>
          <a:blip r:embed="rId3"/>
          <a:stretch>
            <a:fillRect/>
          </a:stretch>
        </p:blipFill>
        <p:spPr>
          <a:xfrm>
            <a:off x="5876766" y="1279585"/>
            <a:ext cx="6103146" cy="5204604"/>
          </a:xfrm>
          <a:prstGeom prst="rect">
            <a:avLst/>
          </a:prstGeom>
        </p:spPr>
      </p:pic>
    </p:spTree>
    <p:extLst>
      <p:ext uri="{BB962C8B-B14F-4D97-AF65-F5344CB8AC3E}">
        <p14:creationId xmlns:p14="http://schemas.microsoft.com/office/powerpoint/2010/main" val="2839824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6398158-1366-10E3-3FD2-943EA88BF6A8}"/>
              </a:ext>
            </a:extLst>
          </p:cNvPr>
          <p:cNvPicPr>
            <a:picLocks noChangeAspect="1"/>
          </p:cNvPicPr>
          <p:nvPr/>
        </p:nvPicPr>
        <p:blipFill>
          <a:blip r:embed="rId2"/>
          <a:stretch>
            <a:fillRect/>
          </a:stretch>
        </p:blipFill>
        <p:spPr>
          <a:xfrm>
            <a:off x="810433" y="158151"/>
            <a:ext cx="4863323" cy="6326038"/>
          </a:xfrm>
          <a:prstGeom prst="rect">
            <a:avLst/>
          </a:prstGeom>
        </p:spPr>
      </p:pic>
      <p:pic>
        <p:nvPicPr>
          <p:cNvPr id="3" name="Picture 2">
            <a:extLst>
              <a:ext uri="{FF2B5EF4-FFF2-40B4-BE49-F238E27FC236}">
                <a16:creationId xmlns:a16="http://schemas.microsoft.com/office/drawing/2014/main" id="{8D1A013D-5C20-240C-F8AE-80629E6DC291}"/>
              </a:ext>
            </a:extLst>
          </p:cNvPr>
          <p:cNvPicPr>
            <a:picLocks noChangeAspect="1"/>
          </p:cNvPicPr>
          <p:nvPr/>
        </p:nvPicPr>
        <p:blipFill>
          <a:blip r:embed="rId3"/>
          <a:stretch>
            <a:fillRect/>
          </a:stretch>
        </p:blipFill>
        <p:spPr>
          <a:xfrm>
            <a:off x="6092226" y="947738"/>
            <a:ext cx="4881473" cy="4962525"/>
          </a:xfrm>
          <a:prstGeom prst="rect">
            <a:avLst/>
          </a:prstGeom>
        </p:spPr>
      </p:pic>
    </p:spTree>
    <p:extLst>
      <p:ext uri="{BB962C8B-B14F-4D97-AF65-F5344CB8AC3E}">
        <p14:creationId xmlns:p14="http://schemas.microsoft.com/office/powerpoint/2010/main" val="3327379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A06C4-6A56-2AD0-C51D-95536FB3145D}"/>
              </a:ext>
            </a:extLst>
          </p:cNvPr>
          <p:cNvSpPr>
            <a:spLocks noGrp="1"/>
          </p:cNvSpPr>
          <p:nvPr>
            <p:ph type="title"/>
          </p:nvPr>
        </p:nvSpPr>
        <p:spPr>
          <a:xfrm>
            <a:off x="1141413" y="5751"/>
            <a:ext cx="9905998" cy="1358661"/>
          </a:xfrm>
        </p:spPr>
        <p:txBody>
          <a:bodyPr/>
          <a:lstStyle/>
          <a:p>
            <a:pPr algn="ctr"/>
            <a:r>
              <a:rPr lang="en-US">
                <a:gradFill flip="none">
                  <a:gsLst>
                    <a:gs pos="0">
                      <a:srgbClr val="FFFFFF"/>
                    </a:gs>
                    <a:gs pos="100000">
                      <a:srgbClr val="FFFFFF"/>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rPr>
              <a:t>Output</a:t>
            </a:r>
            <a:endParaRPr lang="en-US">
              <a:gradFill flip="none" rotWithShape="1">
                <a:gsLst>
                  <a:gs pos="0">
                    <a:prstClr val="white"/>
                  </a:gs>
                  <a:gs pos="100000">
                    <a:prstClr val="white">
                      <a:lumMod val="65000"/>
                    </a:prstClr>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endParaRPr>
          </a:p>
        </p:txBody>
      </p:sp>
      <p:pic>
        <p:nvPicPr>
          <p:cNvPr id="3" name="Picture 2">
            <a:extLst>
              <a:ext uri="{FF2B5EF4-FFF2-40B4-BE49-F238E27FC236}">
                <a16:creationId xmlns:a16="http://schemas.microsoft.com/office/drawing/2014/main" id="{3CB0B380-B6E9-7C73-6CC1-FE881402A027}"/>
              </a:ext>
            </a:extLst>
          </p:cNvPr>
          <p:cNvPicPr>
            <a:picLocks noChangeAspect="1"/>
          </p:cNvPicPr>
          <p:nvPr/>
        </p:nvPicPr>
        <p:blipFill>
          <a:blip r:embed="rId2"/>
          <a:stretch>
            <a:fillRect/>
          </a:stretch>
        </p:blipFill>
        <p:spPr>
          <a:xfrm>
            <a:off x="271463" y="1010997"/>
            <a:ext cx="5553075" cy="5411099"/>
          </a:xfrm>
          <a:prstGeom prst="rect">
            <a:avLst/>
          </a:prstGeom>
        </p:spPr>
      </p:pic>
      <p:pic>
        <p:nvPicPr>
          <p:cNvPr id="4" name="Picture 3">
            <a:extLst>
              <a:ext uri="{FF2B5EF4-FFF2-40B4-BE49-F238E27FC236}">
                <a16:creationId xmlns:a16="http://schemas.microsoft.com/office/drawing/2014/main" id="{85C932CF-8848-4B90-C0B6-2E8800A2F3C2}"/>
              </a:ext>
            </a:extLst>
          </p:cNvPr>
          <p:cNvPicPr>
            <a:picLocks noChangeAspect="1"/>
          </p:cNvPicPr>
          <p:nvPr/>
        </p:nvPicPr>
        <p:blipFill>
          <a:blip r:embed="rId3"/>
          <a:stretch>
            <a:fillRect/>
          </a:stretch>
        </p:blipFill>
        <p:spPr>
          <a:xfrm>
            <a:off x="6094653" y="1017378"/>
            <a:ext cx="5825525" cy="5427094"/>
          </a:xfrm>
          <a:prstGeom prst="rect">
            <a:avLst/>
          </a:prstGeom>
        </p:spPr>
      </p:pic>
    </p:spTree>
    <p:extLst>
      <p:ext uri="{BB962C8B-B14F-4D97-AF65-F5344CB8AC3E}">
        <p14:creationId xmlns:p14="http://schemas.microsoft.com/office/powerpoint/2010/main" val="3721700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783D5-A411-987A-C089-143B33530E5C}"/>
              </a:ext>
            </a:extLst>
          </p:cNvPr>
          <p:cNvSpPr>
            <a:spLocks noGrp="1"/>
          </p:cNvSpPr>
          <p:nvPr>
            <p:ph type="title"/>
          </p:nvPr>
        </p:nvSpPr>
        <p:spPr>
          <a:xfrm>
            <a:off x="1141413" y="5751"/>
            <a:ext cx="9905998" cy="1905000"/>
          </a:xfrm>
        </p:spPr>
        <p:txBody>
          <a:bodyPr/>
          <a:lstStyle/>
          <a:p>
            <a:r>
              <a:rPr lang="en-US">
                <a:gradFill flip="none">
                  <a:gsLst>
                    <a:gs pos="0">
                      <a:srgbClr val="FFFFFF"/>
                    </a:gs>
                    <a:gs pos="100000">
                      <a:srgbClr val="FFFFFF"/>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ea typeface="+mj-lt"/>
                <a:cs typeface="+mj-lt"/>
              </a:rPr>
              <a:t>OOP Concept in Python</a:t>
            </a:r>
            <a:endParaRPr lang="en-US"/>
          </a:p>
        </p:txBody>
      </p:sp>
      <p:sp>
        <p:nvSpPr>
          <p:cNvPr id="3" name="Content Placeholder 2">
            <a:extLst>
              <a:ext uri="{FF2B5EF4-FFF2-40B4-BE49-F238E27FC236}">
                <a16:creationId xmlns:a16="http://schemas.microsoft.com/office/drawing/2014/main" id="{2EDEE4B2-8295-5B84-BEB0-2E32877AEB9B}"/>
              </a:ext>
            </a:extLst>
          </p:cNvPr>
          <p:cNvSpPr>
            <a:spLocks noGrp="1"/>
          </p:cNvSpPr>
          <p:nvPr>
            <p:ph idx="1"/>
          </p:nvPr>
        </p:nvSpPr>
        <p:spPr>
          <a:xfrm>
            <a:off x="1141413" y="1718095"/>
            <a:ext cx="9905998" cy="4720086"/>
          </a:xfrm>
        </p:spPr>
        <p:txBody>
          <a:bodyPr>
            <a:normAutofit fontScale="62500" lnSpcReduction="20000"/>
          </a:bodyPr>
          <a:lstStyle/>
          <a:p>
            <a:pPr marL="0" indent="0">
              <a:buNone/>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The program is implemented using </a:t>
            </a: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Object-Oriented Programming (OOP)</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t>
            </a:r>
            <a:endParaRPr lang="en-US">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marL="0" indent="0">
              <a:buClr>
                <a:srgbClr val="FFFFFF"/>
              </a:buClr>
              <a:buNone/>
            </a:pPr>
            <a:r>
              <a:rPr lang="en-US" b="1">
                <a:gradFill flip="none">
                  <a:gsLst>
                    <a:gs pos="0">
                      <a:srgbClr val="FFFFFF"/>
                    </a:gs>
                    <a:gs pos="100000">
                      <a:srgbClr val="FFFFFF"/>
                    </a:gs>
                  </a:gsLst>
                  <a:lin ang="5580000" scaled="0"/>
                  <a:tileRect/>
                </a:gradFill>
              </a:rPr>
              <a:t>Task Class</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Attributes:</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buFont typeface="Courier New"/>
              <a:buChar char="o"/>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Task name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buFont typeface="Courier New"/>
              <a:buChar char="o"/>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Status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buFont typeface="Courier New"/>
              <a:buChar char="o"/>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Timestamp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Method:</a:t>
            </a:r>
            <a:endParaRPr lang="en-US"/>
          </a:p>
          <a:p>
            <a:pPr lvl="1">
              <a:buClr>
                <a:srgbClr val="FFFFFF"/>
              </a:buClr>
              <a:buFont typeface="Courier New"/>
              <a:buChar char="o"/>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Toggle task status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marL="0" indent="0">
              <a:buClr>
                <a:srgbClr val="FFFFFF"/>
              </a:buClr>
              <a:buNone/>
            </a:pPr>
            <a:endParaRPr lang="en-US" dirty="0"/>
          </a:p>
          <a:p>
            <a:pPr marL="0" indent="0">
              <a:buClr>
                <a:srgbClr val="FFFFFF"/>
              </a:buClr>
              <a:buNone/>
            </a:pPr>
            <a:r>
              <a:rPr lang="en-US" b="1" dirty="0" err="1">
                <a:gradFill flip="none">
                  <a:gsLst>
                    <a:gs pos="0">
                      <a:srgbClr val="FFFFFF"/>
                    </a:gs>
                    <a:gs pos="100000">
                      <a:srgbClr val="FFFFFF"/>
                    </a:gs>
                  </a:gsLst>
                  <a:lin ang="5580000" scaled="0"/>
                  <a:tileRect/>
                </a:gradFill>
              </a:rPr>
              <a:t>ToDoList</a:t>
            </a:r>
            <a:r>
              <a:rPr lang="en-US" b="1" dirty="0">
                <a:gradFill flip="none">
                  <a:gsLst>
                    <a:gs pos="0">
                      <a:srgbClr val="FFFFFF"/>
                    </a:gs>
                    <a:gs pos="100000">
                      <a:srgbClr val="FFFFFF"/>
                    </a:gs>
                  </a:gsLst>
                  <a:lin ang="5580000" scaled="0"/>
                  <a:tileRect/>
                </a:gradFill>
              </a:rPr>
              <a:t> Class</a:t>
            </a:r>
            <a:endPar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Attributes:</a:t>
            </a:r>
            <a:endParaRPr lang="en-US"/>
          </a:p>
          <a:p>
            <a:pPr lvl="1">
              <a:buClr>
                <a:srgbClr val="FFFFFF"/>
              </a:buClr>
              <a:buFont typeface="Courier New"/>
              <a:buChar char="o"/>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List of task objects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Methods:</a:t>
            </a:r>
            <a:endParaRPr lang="en-US"/>
          </a:p>
          <a:p>
            <a:pPr lvl="1">
              <a:buClr>
                <a:srgbClr val="FFFFFF"/>
              </a:buClr>
              <a:buFont typeface="Courier New"/>
              <a:buChar char="o"/>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Add task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buFont typeface="Courier New"/>
              <a:buChar char="o"/>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Remove task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buFont typeface="Courier New"/>
              <a:buChar char="o"/>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Update status </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lvl="1">
              <a:buClr>
                <a:srgbClr val="FFFFFF"/>
              </a:buClr>
              <a:buFont typeface="Courier New"/>
              <a:buChar char="o"/>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Display tasks</a:t>
            </a:r>
            <a:endPar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endPar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p:txBody>
      </p:sp>
    </p:spTree>
    <p:extLst>
      <p:ext uri="{BB962C8B-B14F-4D97-AF65-F5344CB8AC3E}">
        <p14:creationId xmlns:p14="http://schemas.microsoft.com/office/powerpoint/2010/main" val="2338835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6ACCF-B923-2F67-D1AC-5497C3064CE0}"/>
              </a:ext>
            </a:extLst>
          </p:cNvPr>
          <p:cNvSpPr>
            <a:spLocks noGrp="1"/>
          </p:cNvSpPr>
          <p:nvPr>
            <p:ph type="title"/>
          </p:nvPr>
        </p:nvSpPr>
        <p:spPr/>
        <p:txBody>
          <a:bodyPr/>
          <a:lstStyle/>
          <a:p>
            <a:r>
              <a:rPr lang="en-US">
                <a:gradFill flip="none">
                  <a:gsLst>
                    <a:gs pos="0">
                      <a:srgbClr val="FFFFFF"/>
                    </a:gs>
                    <a:gs pos="100000">
                      <a:srgbClr val="FFFFFF"/>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rPr>
              <a:t>Limitations</a:t>
            </a:r>
            <a:endParaRPr lang="en-US"/>
          </a:p>
        </p:txBody>
      </p:sp>
      <p:sp>
        <p:nvSpPr>
          <p:cNvPr id="3" name="Content Placeholder 2">
            <a:extLst>
              <a:ext uri="{FF2B5EF4-FFF2-40B4-BE49-F238E27FC236}">
                <a16:creationId xmlns:a16="http://schemas.microsoft.com/office/drawing/2014/main" id="{F6E01F3E-BCD6-CABD-196F-E6B9B1D7C8FC}"/>
              </a:ext>
            </a:extLst>
          </p:cNvPr>
          <p:cNvSpPr>
            <a:spLocks noGrp="1"/>
          </p:cNvSpPr>
          <p:nvPr>
            <p:ph idx="1"/>
          </p:nvPr>
        </p:nvSpPr>
        <p:spPr/>
        <p:txBody>
          <a:bodyPr>
            <a:normAutofit fontScale="92500"/>
          </a:bodyPr>
          <a:lstStyle/>
          <a:p>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No Data Persistence</a:t>
            </a:r>
            <a:b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b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Tasks are stored only in memory and are lost when the program exits. </a:t>
            </a:r>
            <a:endParaRPr lang="en-US">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CLI-Based Interface Only</a:t>
            </a:r>
            <a:b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br>
            <a: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The system uses a command-line interface, which is less user-friendly compared to graphical applications.</a:t>
            </a:r>
            <a:endParaRPr lang="en-US"/>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No Deadline or Due Date Feature</a:t>
            </a:r>
            <a:b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br>
            <a: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Tasks do not include deadlines, making it harder to manage time-sensitive activities.</a:t>
            </a:r>
          </a:p>
          <a:p>
            <a:pPr>
              <a:buClr>
                <a:srgbClr val="FFFFFF"/>
              </a:buClr>
            </a:pP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No Multi-User Support</a:t>
            </a:r>
            <a:b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br>
            <a:r>
              <a:rPr lang="en-US" b="1"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The application is designed for a single user and does not support multiple profiles.</a:t>
            </a:r>
            <a:endPar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p:txBody>
      </p:sp>
    </p:spTree>
    <p:extLst>
      <p:ext uri="{BB962C8B-B14F-4D97-AF65-F5344CB8AC3E}">
        <p14:creationId xmlns:p14="http://schemas.microsoft.com/office/powerpoint/2010/main" val="2468291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58D3A-9BE2-CC44-5A0E-D66B56E8FD29}"/>
              </a:ext>
            </a:extLst>
          </p:cNvPr>
          <p:cNvSpPr>
            <a:spLocks noGrp="1"/>
          </p:cNvSpPr>
          <p:nvPr>
            <p:ph type="title"/>
          </p:nvPr>
        </p:nvSpPr>
        <p:spPr/>
        <p:txBody>
          <a:bodyPr/>
          <a:lstStyle/>
          <a:p>
            <a:r>
              <a:rPr lang="en-US">
                <a:gradFill flip="none">
                  <a:gsLst>
                    <a:gs pos="0">
                      <a:srgbClr val="FFFFFF"/>
                    </a:gs>
                    <a:gs pos="100000">
                      <a:srgbClr val="FFFFFF"/>
                    </a:gs>
                  </a:gsLst>
                  <a:lin ang="5580000" scaled="0"/>
                  <a:tileRect/>
                </a:gradFill>
                <a:effectLst>
                  <a:glow rad="38100">
                    <a:prstClr val="black">
                      <a:lumMod val="65000"/>
                      <a:lumOff val="35000"/>
                      <a:alpha val="40000"/>
                    </a:prstClr>
                  </a:glow>
                  <a:outerShdw blurRad="28575" dist="38100" dir="14040000" algn="tl" rotWithShape="0">
                    <a:srgbClr val="000000">
                      <a:alpha val="25000"/>
                    </a:srgbClr>
                  </a:outerShdw>
                </a:effectLst>
                <a:ea typeface="+mj-lt"/>
                <a:cs typeface="+mj-lt"/>
              </a:rPr>
              <a:t>Conclusion</a:t>
            </a:r>
            <a:endParaRPr lang="en-US"/>
          </a:p>
        </p:txBody>
      </p:sp>
      <p:sp>
        <p:nvSpPr>
          <p:cNvPr id="3" name="Content Placeholder 2">
            <a:extLst>
              <a:ext uri="{FF2B5EF4-FFF2-40B4-BE49-F238E27FC236}">
                <a16:creationId xmlns:a16="http://schemas.microsoft.com/office/drawing/2014/main" id="{70CB8083-18B8-9DBA-F416-6B317E8278FD}"/>
              </a:ext>
            </a:extLst>
          </p:cNvPr>
          <p:cNvSpPr>
            <a:spLocks noGrp="1"/>
          </p:cNvSpPr>
          <p:nvPr>
            <p:ph idx="1"/>
          </p:nvPr>
        </p:nvSpPr>
        <p:spPr/>
        <p:txBody>
          <a:bodyPr/>
          <a:lstStyle/>
          <a:p>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Successfully developed a </a:t>
            </a:r>
            <a:r>
              <a:rPr lang="en-US" b="1">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CLI-based To-Do List Manager using OOP</a:t>
            </a:r>
            <a:r>
              <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 </a:t>
            </a:r>
            <a:endParaRPr lang="en-US" dirty="0">
              <a:gradFill flip="none" rotWithShape="1">
                <a:gsLst>
                  <a:gs pos="0">
                    <a:prstClr val="white"/>
                  </a:gs>
                  <a:gs pos="100000">
                    <a:prstClr val="white">
                      <a:lumMod val="75000"/>
                    </a:prstClr>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a:p>
            <a:pPr>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Demonstrates effective use of Python concepts </a:t>
            </a:r>
            <a:endParaRPr lang="en-US"/>
          </a:p>
          <a:p>
            <a:pPr>
              <a:buClr>
                <a:srgbClr val="FFFFFF"/>
              </a:buClr>
            </a:pPr>
            <a:r>
              <a:rPr lang="en-US">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Provides a simple and efficient task management solution</a:t>
            </a:r>
            <a:endParaRPr lang="en-US"/>
          </a:p>
          <a:p>
            <a:pPr marL="0" indent="0">
              <a:buClr>
                <a:srgbClr val="FFFFFF"/>
              </a:buClr>
              <a:buNone/>
            </a:pPr>
            <a:endParaRPr lang="en-US" dirty="0">
              <a:gradFill flip="none">
                <a:gsLst>
                  <a:gs pos="0">
                    <a:srgbClr val="FFFFFF"/>
                  </a:gs>
                  <a:gs pos="100000">
                    <a:srgbClr val="FFFFFF"/>
                  </a:gs>
                </a:gsLst>
                <a:lin ang="5580000" scaled="0"/>
                <a:tileRect/>
              </a:gradFill>
              <a:effectLst>
                <a:glow rad="38100">
                  <a:prstClr val="black">
                    <a:lumMod val="50000"/>
                    <a:lumOff val="50000"/>
                    <a:alpha val="20000"/>
                  </a:prstClr>
                </a:glow>
                <a:outerShdw blurRad="44450" dist="12700" dir="13860000" algn="tl" rotWithShape="0">
                  <a:srgbClr val="000000">
                    <a:alpha val="20000"/>
                  </a:srgbClr>
                </a:outerShdw>
              </a:effectLst>
            </a:endParaRPr>
          </a:p>
        </p:txBody>
      </p:sp>
    </p:spTree>
    <p:extLst>
      <p:ext uri="{BB962C8B-B14F-4D97-AF65-F5344CB8AC3E}">
        <p14:creationId xmlns:p14="http://schemas.microsoft.com/office/powerpoint/2010/main" val="10809261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Mesh</vt:lpstr>
      <vt:lpstr>TO – DO LIST MANAGER </vt:lpstr>
      <vt:lpstr>Problem Statement </vt:lpstr>
      <vt:lpstr>Logic</vt:lpstr>
      <vt:lpstr>PowerPoint Presentation</vt:lpstr>
      <vt:lpstr>PowerPoint Presentation</vt:lpstr>
      <vt:lpstr>PowerPoint Presentation</vt:lpstr>
      <vt:lpstr>Edge Cases Handled</vt:lpstr>
      <vt:lpstr>Python Concepts Used</vt:lpstr>
      <vt:lpstr>Code Walkthrough  </vt:lpstr>
      <vt:lpstr>Code</vt:lpstr>
      <vt:lpstr>PowerPoint Presentation</vt:lpstr>
      <vt:lpstr>Output</vt:lpstr>
      <vt:lpstr>OOP Concept in Python</vt:lpstr>
      <vt:lpstr>Limitations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141</cp:revision>
  <dcterms:created xsi:type="dcterms:W3CDTF">2026-04-20T03:26:53Z</dcterms:created>
  <dcterms:modified xsi:type="dcterms:W3CDTF">2026-04-20T04:42:36Z</dcterms:modified>
</cp:coreProperties>
</file>